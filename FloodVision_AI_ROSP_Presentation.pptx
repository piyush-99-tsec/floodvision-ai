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3474720" cy="347472"/>
          </a:xfrm>
          <a:prstGeom prst="roundRect">
            <a:avLst/>
          </a:prstGeom>
          <a:solidFill>
            <a:srgbClr val="0C4A6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RESEARCH-ORIENTED SKILL PROJECT (ROSP)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FloodVision-AI</a:t>
            </a:r>
          </a:p>
          <a:p>
            <a:pPr>
              <a:defRPr sz="1600">
                <a:solidFill>
                  <a:srgbClr val="94A3B8"/>
                </a:solidFill>
                <a:latin typeface="Segoe UI"/>
              </a:defRPr>
            </a:pPr>
            <a:r>
              <a:t>An Explainable Deep Learning &amp; Multimodal Earth Observation Framework for Automated Flood Damage Assessment and Intelligent Rescue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📡 Multimodal Fusion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Couples Sentinel-1 SAR Radar with WorldView-3/Sentinel-2 Optical satellites to eliminate cloud &amp; nighttime blindness.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33832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⚡ Building-Level Risk (Ri)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Computes Ri = 0.50·Ei + 0.50·Si across 303 validated structures with explainable damage &amp; flood exposure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383280"/>
            <a:ext cx="329184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🚤 Operational Rescue Dispatch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Synthesizes tactical directives and executes priority-based responder allocation under strict capability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Project Team: Group-01 | Domain: Deep Learning, Remote Sensing &amp; Emergency Operations | Benchmark: xBD-S12 &amp; Sen1Floods11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OPERATIONAL BOTTLENECKS &amp;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Problem Statement: The Breakdown in Disaster Emergency Operations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Why existing remote sensing tools fail to protect lives during catastrophic flooding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18288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01. Cloud &amp; Nighttime Blindness (Optical Failure)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Standard RGB optical satellites cannot penetrate storm clouds, monsoonal cover, or darkness during active hurricanes and floods. Responders remain blind for days until skies clear.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164592" cy="20574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69164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18288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02. Scattered &amp; Disconnected Tooling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Emergency Operation Centers (EOCs) must manually cross-reference isolated flood maps, disconnected GIS viewers, and radio logs, wasting critical golden hours during life-saving triage.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91640"/>
            <a:ext cx="164592" cy="20574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18288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03. The 'Heatmap-to-Action' Gap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Current ML research outputs abstract pixel heatmaps or bounding boxes. They fail to generate operational mission parameters, building-level GPS pins, or tactical resource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64592" cy="20574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182880" rIns="182880"/>
          <a:lstStyle/>
          <a:p>
            <a:pPr algn="ctr">
              <a:defRPr sz="1300" b="1">
                <a:solidFill>
                  <a:srgbClr val="0F172A"/>
                </a:solidFill>
                <a:latin typeface="Segoe UI"/>
              </a:defRPr>
            </a:pPr>
            <a:r>
              <a:t>04. Black-Box AI Skepticism &amp; Fleet Constraints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Responders distrust opaque confidence scores lacking visual justification. Furthermore, academic models assume unlimited rescue teams, ignoring real-world fleet capacity and capability limits.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164592" cy="20574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STATE OF THE ART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Tabular Literature Review: State-of-the-Art vs. FloodVision-AI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Systematic comparison of disaster response paradigms across remote sensing and operational capabilities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9164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188720"/>
                <a:gridCol w="1188720"/>
                <a:gridCol w="1280160"/>
                <a:gridCol w="1188720"/>
                <a:gridCol w="1188720"/>
                <a:gridCol w="1188720"/>
                <a:gridCol w="1218895"/>
              </a:tblGrid>
              <a:tr h="746760">
                <a:tc>
                  <a:txBody>
                    <a:bodyPr lIns="73152" rIns="73152"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Disaster System Paradigm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All-Weather SAR Radar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Flood Pixel Segmentation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Building Damage Multi-Class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Multimodal Risk Fusion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Explainable AI (XAI)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Rescue Task Generation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Team Allocation Optimization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46760">
                <a:tc>
                  <a:txBody>
                    <a:bodyPr lIns="73152" rIns="73152"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Traditional Optical Systems</a:t>
                      </a:r>
                      <a:br/>
                      <a:r>
                        <a:t>(E.g. DigitalGlobe / Sentinel-2 RGB)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 (Cloud Blind)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 (Manual)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73152" rIns="73152"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SAR Hydrological Detectors</a:t>
                      </a:r>
                      <a:br/>
                      <a:r>
                        <a:t>(E.g. Sen1Floods11 U-Net Baselines)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✓ (C-band SAR)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✓ (Water Only)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 (No Buildings)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 lIns="73152" rIns="73152"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Building Damage Ensembles</a:t>
                      </a:r>
                      <a:br/>
                      <a:r>
                        <a:t>(E.g. xView2 Challenge Models)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 (Optical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 (No Water)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✓ (4 Classes)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lIns="73152" rIns="73152"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Generic Vision-Language Models</a:t>
                      </a:r>
                      <a:br/>
                      <a:r>
                        <a:t>(E.g. Multimodal Disaster VLMs)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 (Optical Focus)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 (Bounding Box)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Qualitative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334155"/>
                          </a:solidFill>
                          <a:latin typeface="Segoe UI"/>
                        </a:defRPr>
                      </a:pPr>
                      <a:r>
                        <a:t>Subjective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>
                          <a:solidFill>
                            <a:srgbClr val="DC2626"/>
                          </a:solidFill>
                          <a:latin typeface="Segoe U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46760">
                <a:tc>
                  <a:txBody>
                    <a:bodyPr lIns="73152" rIns="73152"/>
                    <a:lstStyle/>
                    <a:p>
                      <a:pPr algn="l">
                        <a:defRPr sz="950" b="1">
                          <a:solidFill>
                            <a:srgbClr val="0284C7"/>
                          </a:solidFill>
                          <a:latin typeface="Segoe UI"/>
                        </a:defRPr>
                      </a:pPr>
                      <a:r>
                        <a:t>FloodVision-AI / ROSP</a:t>
                      </a:r>
                      <a:br/>
                      <a:r>
                        <a:t>(Our Proposed Solution)</a:t>
                      </a:r>
                    </a:p>
                  </a:txBody>
                  <a:tcPr>
                    <a:solidFill>
                      <a:srgbClr val="E6F8FF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✓ (Sentinel-1 SAR)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✓ (Flood U-Net)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✓ (xBD Ensembles)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✓ (Ri = 0.5Ei+0.5Si)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✓ (Grad-CAM + Ri)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✓ (303 Directives)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ctr">
                        <a:defRPr sz="950" b="1">
                          <a:solidFill>
                            <a:srgbClr val="059669"/>
                          </a:solidFill>
                          <a:latin typeface="Segoe UI"/>
                        </a:defRPr>
                      </a:pPr>
                      <a:r>
                        <a:t>✓ (18 Units Optimal)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END-TO-END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Proposed Solution: Multimodal Perception &amp; Operational Flow Diagram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From raw Earth Observation satellite streams to tactical responder dispatch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303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91440" rIns="137160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1. Dual-Stream Satellite Ingestion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Ingests Sentinel-1 C-Band SAR (VV/VH radar backscatter) alongside WorldView-3 high-resolution optical imagery for pre/post disaster scenes.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1856232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06040"/>
            <a:ext cx="5303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91440" rIns="137160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2. Deep Learning Perception Tier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Flood U-Net segments standing inundation (82.4% mIoU). Optical models extract building footprints and classify structural degradation into 4 damage tiers.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770632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520440"/>
            <a:ext cx="5303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91440" rIns="137160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3. Temporal Change &amp; Risk Engine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Calculates newly flooded extent (M_post \ M_pre) and computes fused building risk: Ri = 0.50·Ei + 0.50·Si across all localized structures.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85032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5303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91440" rIns="137160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4. Rescue Task &amp; Resource Allocation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Maps building coordinates to WGS84 GPS, generates 303 operational missions, and dispatches 18 multi-disciplinary responder squads via capability matching.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599432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49240"/>
            <a:ext cx="5303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77240" tIns="91440" rIns="137160"/>
          <a:lstStyle/>
          <a:p>
            <a:pPr algn="ctr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5. Interactive GIS Response Console</a:t>
            </a:r>
          </a:p>
          <a:p>
            <a:pPr>
              <a:defRPr sz="950">
                <a:solidFill>
                  <a:srgbClr val="334155"/>
                </a:solidFill>
                <a:latin typeface="Segoe UI"/>
              </a:defRPr>
            </a:pPr>
            <a:r>
              <a:t>React/Leaflet interface renders Esri satellite basemaps, dynamic SAR flood polygons, building damage cards, and mutual-aid deficit queues.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513832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ure_4_methodology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783080"/>
            <a:ext cx="5059375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FULL-STACK ENGINEERING &amp;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Open-Source Components &amp; Technical Implementation Approach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Leveraging premier open-source geospatial tools, deep learning frameworks, and robust algorithms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🛠️ Open-Source Components &amp; Tooling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AI &amp; Deep Learning: </a:t>
            </a:r>
            <a:r>
              <a:rPr b="1">
                <a:solidFill>
                  <a:srgbClr val="0F172A"/>
                </a:solidFill>
              </a:rPr>
              <a:t>PyTorch, Torchvision, NumPy, OpenCV, Albumentations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Executes Flood U-Net C-band radar segmentation &amp; xBD structural damage models.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AI Microservice Serving: </a:t>
            </a:r>
            <a:r>
              <a:rPr b="1">
                <a:solidFill>
                  <a:srgbClr val="0F172A"/>
                </a:solidFill>
              </a:rPr>
              <a:t>Python 3.10+, FastAPI, Uvicorn, Pydantic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Dedicated high-performance inference engine serving REST endpoints &amp; Swagger UI.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Backend &amp; Geo-Processing: </a:t>
            </a:r>
            <a:r>
              <a:rPr b="1">
                <a:solidFill>
                  <a:srgbClr val="0F172A"/>
                </a:solidFill>
              </a:rPr>
              <a:t>Node.js, Express.js, TypeScript, GeoJSON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Deterministic task generation, WGS84 coordinate projections, and team dispatch.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GIS Visualization &amp; UI: </a:t>
            </a:r>
            <a:r>
              <a:rPr b="1">
                <a:solidFill>
                  <a:srgbClr val="0F172A"/>
                </a:solidFill>
              </a:rPr>
              <a:t>React.js, Leaflet, React-Leaflet, TailwindCSS, Recharts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Dynamic map interface with Esri satellite basemaps and interactive layer toggles.</a:t>
            </a:r>
          </a:p>
          <a:p>
            <a:pPr>
              <a:defRPr sz="1050" b="1">
                <a:solidFill>
                  <a:srgbClr val="0284C7"/>
                </a:solidFill>
              </a:defRPr>
            </a:pPr>
            <a:r>
              <a:t>• Open Satellite Benchmarks: </a:t>
            </a:r>
            <a:r>
              <a:rPr b="1">
                <a:solidFill>
                  <a:srgbClr val="0F172A"/>
                </a:solidFill>
              </a:rPr>
              <a:t>ESA Copernicus Sentinel-1 SAR &amp; xBD Dataset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  Multi-peril disaster dataset covering hurricanes, floods, tsunamis, and earthquakes.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242255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⚙️ Core Technical Approaches &amp; Formulations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▸ Zero-Shot SAR Domain Adaptation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Pretrained Flood U-Net adapted to native 128×128 Sentinel-1 SAR tensors via standardization adapter without retraining frozen weights:</a:t>
            </a:r>
            <a:br/>
            <a:r>
              <a:t>VV_norm = (VV - (-10.38))/4.00, VH_norm = (VH - (-17.22))/4.71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▸ Set-Theoretic Temporal Inundation Dynamics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Differentiates disaster flooding from baseline water bodies:</a:t>
            </a:r>
            <a:br/>
            <a:r>
              <a:t>Newly Flooded Extent: M_new = M_post ∧ (¬M_pre)</a:t>
            </a:r>
            <a:br/>
            <a:r>
              <a:t>Persistent Baseline Water: M_persist = M_pre ∧ M_post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▸ Dual-Modality Risk Equation (Ri)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Fuses radar flood exposure and optical structural destruction:</a:t>
            </a:r>
            <a:br/>
            <a:r>
              <a:t>Ri = 0.50·Ei + 0.50·Si  ∈ [0, 1] (Divided into Critical, High, Moderate, Low)</a:t>
            </a:r>
          </a:p>
          <a:p>
            <a:pPr>
              <a:defRPr sz="1050" b="1">
                <a:solidFill>
                  <a:srgbClr val="4F46E5"/>
                </a:solidFill>
              </a:defRPr>
            </a:pPr>
            <a:r>
              <a:t>▸ Explainable Priority-Based Allocation Algorithm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Greedy multi-factor scoring matching finite squads to tasks under 1:1 capacity:</a:t>
            </a:r>
            <a:br/>
            <a:r>
              <a:t>S_alloc = 0.40·S_priority + 0.35·S_capability + 0.25·S_proximity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OPERATIONAL VALUE &amp; REAL-WORLD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Impact and Benefits: Transforming Disaster Response Operations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Empowering emergency commanders with rapid, auditable, and resilient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⚡ Sub-Second Triage (&lt;200 ms)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Automates reconnaissance and evaluates 300+ building structures in under 200 ms, replacing 24–72 hours of manual helicopter and foot surveys during critical golden hours.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3474720" cy="10972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6916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🛡️ 100% All-Weather Reliability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Sentinel-1 SAR C-band radar penetrates cloud cover, monsoonal storms, and night conditions, guaranteeing operational visibility when optical satellites fail.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91640"/>
            <a:ext cx="3474720" cy="1097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0" y="1691640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🎯 Elimination of 'Heatmap-to-Action' Gap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Converts raw pixel segmentations into 303 building-level tactical rescue missions specifying personnel sizes (2–8 responders) and gear (boats, USAR, drones).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691640"/>
            <a:ext cx="3474720" cy="109728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77639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🔍 Transparent, Auditable Decision Support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Every rescue recommendation is accompanied by an explainable formula breakdown (Ri, Ei, Si), preventing algorithmic distrust among incident commanders.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3474720" cy="10972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977639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⚖️ Realistic Fleet &amp; Deficit Management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Constrained 18-squad allocation reflects genuine emergency shortages; unassigned tasks populate an explainable Deficit Backlog for incoming mutual-aid forces.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977639"/>
            <a:ext cx="3474720" cy="109728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0" y="3977639"/>
            <a:ext cx="34747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01168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🗺️ Unified Multi-Agency Geospatial Console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Single web GIS platform synchronizes incident commanders, field rescue squads, and state analysts with sub-meter satellite overlays and live mission vectors.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3977639"/>
            <a:ext cx="3474720" cy="109728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E0F2FE"/>
          </a:solidFill>
          <a:ln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284C7"/>
                </a:solidFill>
                <a:latin typeface="Segoe UI"/>
              </a:defRPr>
            </a:pPr>
            <a:r>
              <a:t>ACADEMIC &amp; TECHNICAL BIBLIOGRAPHY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728655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References: Academic Benchmarks &amp; Foundational Literature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Key peer-reviewed literature, Earth Observation datasets, and deep learning architectures utilized in FloodVision-AI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[1] Bonafilia, D., Tellman, B., Anderson, T., &amp; Issenberg, E. (2020). </a:t>
            </a:r>
            <a:r>
              <a:rPr b="0">
                <a:solidFill>
                  <a:srgbClr val="0F172A"/>
                </a:solidFill>
                <a:latin typeface="Segoe UI"/>
              </a:rPr>
              <a:t>"Sen1Floods11: A Georeferenced Dataset to Train and Test Deep Learning Flood Algorithms for Sentinel-1." </a:t>
            </a:r>
            <a:r>
              <a:rPr i="1">
                <a:solidFill>
                  <a:srgbClr val="64748B"/>
                </a:solidFill>
                <a:latin typeface="Segoe UI"/>
              </a:rPr>
              <a:t>IEEE/CVF Conference on Computer Vision and Pattern Recognition (CVPR) Workshops, pp. 210-211.</a:t>
            </a:r>
          </a:p>
          <a:p>
            <a:pPr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[2] Gupta, R., Hosfelt, R., Dooley, S., et al. (2019). </a:t>
            </a:r>
            <a:r>
              <a:rPr b="0">
                <a:solidFill>
                  <a:srgbClr val="0F172A"/>
                </a:solidFill>
                <a:latin typeface="Segoe UI"/>
              </a:rPr>
              <a:t>"xBD: A Dataset for Assessing Building Damage from Satellite Imagery." </a:t>
            </a:r>
            <a:r>
              <a:rPr i="1">
                <a:solidFill>
                  <a:srgbClr val="64748B"/>
                </a:solidFill>
                <a:latin typeface="Segoe UI"/>
              </a:rPr>
              <a:t>arXiv preprint arXiv:1911.09296 / IEEE/CVF CVPR Workshops (xView2 Challenge Benchmark).</a:t>
            </a:r>
          </a:p>
          <a:p>
            <a:pPr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[3] Ronneberger, O., Fischer, P., &amp; Brox, T. (2015). </a:t>
            </a:r>
            <a:r>
              <a:rPr b="0">
                <a:solidFill>
                  <a:srgbClr val="0F172A"/>
                </a:solidFill>
                <a:latin typeface="Segoe UI"/>
              </a:rPr>
              <a:t>"U-Net: Convolutional Networks for Biomedical Image Segmentation." </a:t>
            </a:r>
            <a:r>
              <a:rPr i="1">
                <a:solidFill>
                  <a:srgbClr val="64748B"/>
                </a:solidFill>
                <a:latin typeface="Segoe UI"/>
              </a:rPr>
              <a:t>Medical Image Computing and Computer-Assisted Intervention (MICCAI), Springer, LNCS, vol. 9351, pp. 234-241.</a:t>
            </a:r>
          </a:p>
          <a:p>
            <a:pPr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[4] European Space Agency (ESA). (2021). </a:t>
            </a:r>
            <a:r>
              <a:rPr b="0">
                <a:solidFill>
                  <a:srgbClr val="0F172A"/>
                </a:solidFill>
                <a:latin typeface="Segoe UI"/>
              </a:rPr>
              <a:t>"Copernicus Sentinel-1 SAR Technical Handbook &amp; Dual-Polarization C-Band GRD Products." </a:t>
            </a:r>
            <a:r>
              <a:rPr i="1">
                <a:solidFill>
                  <a:srgbClr val="64748B"/>
                </a:solidFill>
                <a:latin typeface="Segoe UI"/>
              </a:rPr>
              <a:t>European Space Agency Technical Documentation, Special Publication SP-1322/1.</a:t>
            </a:r>
          </a:p>
          <a:p>
            <a:pPr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[5] Selvaraju, R. R., Cogswell, M., Das, A., Vedaldi, A., Parikh, D., &amp; Batra, D. (2017). </a:t>
            </a:r>
            <a:r>
              <a:rPr b="0">
                <a:solidFill>
                  <a:srgbClr val="0F172A"/>
                </a:solidFill>
                <a:latin typeface="Segoe UI"/>
              </a:rPr>
              <a:t>"Grad-CAM: Visual Explanations from Deep Networks via Gradient-Based Localization." </a:t>
            </a:r>
            <a:r>
              <a:rPr i="1">
                <a:solidFill>
                  <a:srgbClr val="64748B"/>
                </a:solidFill>
                <a:latin typeface="Segoe UI"/>
              </a:rPr>
              <a:t>IEEE International Conference on Computer Vision (ICCV), pp. 618-626.</a:t>
            </a:r>
          </a:p>
          <a:p>
            <a:pPr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[6] Xie, E., Wang, W., Yu, Z., Anandkumar, A., Alvarez, J. M., &amp; Luo, P. (2021). </a:t>
            </a:r>
            <a:r>
              <a:rPr b="0">
                <a:solidFill>
                  <a:srgbClr val="0F172A"/>
                </a:solidFill>
                <a:latin typeface="Segoe UI"/>
              </a:rPr>
              <a:t>"SegFormer: Simple and Efficient Design for Semantic Segmentation with Transformers." </a:t>
            </a:r>
            <a:r>
              <a:rPr i="1">
                <a:solidFill>
                  <a:srgbClr val="64748B"/>
                </a:solidFill>
                <a:latin typeface="Segoe UI"/>
              </a:rPr>
              <a:t>Advances in Neural Information Processing Systems (NeurIPS), vol. 34, pp. 12077-12090.</a:t>
            </a:r>
          </a:p>
          <a:p>
            <a:pPr>
              <a:defRPr sz="1050" b="1">
                <a:solidFill>
                  <a:srgbClr val="0284C7"/>
                </a:solidFill>
                <a:latin typeface="Segoe UI"/>
              </a:defRPr>
            </a:pPr>
            <a:r>
              <a:t>[7] United Nations Office for Disaster Risk Reduction (UNDRR) &amp; CRED. (2020). </a:t>
            </a:r>
            <a:r>
              <a:rPr b="0">
                <a:solidFill>
                  <a:srgbClr val="0F172A"/>
                </a:solidFill>
                <a:latin typeface="Segoe UI"/>
              </a:rPr>
              <a:t>"The Human Cost of Disasters: An Overview of the Last 20 Years (2000–2019)." </a:t>
            </a:r>
            <a:r>
              <a:rPr i="1">
                <a:solidFill>
                  <a:srgbClr val="64748B"/>
                </a:solidFill>
                <a:latin typeface="Segoe UI"/>
              </a:rPr>
              <a:t>UN Office for Disaster Risk Reduction Research Report, Geneva, Switzerland.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